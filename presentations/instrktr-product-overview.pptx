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fd5afc15884566" /><Relationship Type="http://schemas.openxmlformats.org/officeDocument/2006/relationships/extended-properties" Target="/docProps/app.xml" Id="Rbc49b03725ee4e49" /><Relationship Type="http://schemas.openxmlformats.org/officeDocument/2006/relationships/officeDocument" Target="/ppt/presentation.xml" Id="Ra793189019fa40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be8010fbc4efa"/>
  </p:sldMasterIdLst>
  <p:notesMasterIdLst>
    <p:notesMasterId xmlns:r="http://schemas.openxmlformats.org/officeDocument/2006/relationships" r:id="Rfaee16a76bfb4f9a"/>
  </p:notesMasterIdLst>
  <p:sldIdLst>
    <p:sldId xmlns:r="http://schemas.openxmlformats.org/officeDocument/2006/relationships" id="256" r:id="Rb402ab41749d423a"/>
    <p:sldId xmlns:r="http://schemas.openxmlformats.org/officeDocument/2006/relationships" id="257" r:id="R2e7d2200a7ee4c2e"/>
    <p:sldId xmlns:r="http://schemas.openxmlformats.org/officeDocument/2006/relationships" id="258" r:id="R837116e1570c4f3e"/>
    <p:sldId xmlns:r="http://schemas.openxmlformats.org/officeDocument/2006/relationships" id="259" r:id="Rcd14119e39d9427c"/>
    <p:sldId xmlns:r="http://schemas.openxmlformats.org/officeDocument/2006/relationships" id="260" r:id="R60739231b6194856"/>
    <p:sldId xmlns:r="http://schemas.openxmlformats.org/officeDocument/2006/relationships" id="261" r:id="Ra6f4b74ce268416d"/>
    <p:sldId xmlns:r="http://schemas.openxmlformats.org/officeDocument/2006/relationships" id="262" r:id="Re1a0dde9a39c494e"/>
    <p:sldId xmlns:r="http://schemas.openxmlformats.org/officeDocument/2006/relationships" id="263" r:id="R2a3db37ffb7e44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be8010fbc4efa" /><Relationship Type="http://schemas.openxmlformats.org/officeDocument/2006/relationships/theme" Target="/ppt/theme/theme1.xml" Id="R56799d864c294e7b" /><Relationship Type="http://schemas.openxmlformats.org/officeDocument/2006/relationships/notesMaster" Target="/ppt/notesMasters/notesMaster1.xml" Id="Rfaee16a76bfb4f9a" /><Relationship Type="http://schemas.openxmlformats.org/officeDocument/2006/relationships/presProps" Target="/ppt/presProps.xml" Id="Rc28aadc0dc8e4b94" /><Relationship Type="http://schemas.openxmlformats.org/officeDocument/2006/relationships/viewProps" Target="/ppt/viewProps.xml" Id="R3cf8d870b2c243e4" /><Relationship Type="http://schemas.openxmlformats.org/officeDocument/2006/relationships/tableStyles" Target="/ppt/tableStyles.xml" Id="R5e627a19e98c4659" /><Relationship Type="http://schemas.openxmlformats.org/officeDocument/2006/relationships/slide" Target="/ppt/slides/slide1.xml" Id="Rb402ab41749d423a" /><Relationship Type="http://schemas.openxmlformats.org/officeDocument/2006/relationships/slide" Target="/ppt/slides/slide2.xml" Id="R2e7d2200a7ee4c2e" /><Relationship Type="http://schemas.openxmlformats.org/officeDocument/2006/relationships/slide" Target="/ppt/slides/slide3.xml" Id="R837116e1570c4f3e" /><Relationship Type="http://schemas.openxmlformats.org/officeDocument/2006/relationships/slide" Target="/ppt/slides/slide4.xml" Id="Rcd14119e39d9427c" /><Relationship Type="http://schemas.openxmlformats.org/officeDocument/2006/relationships/slide" Target="/ppt/slides/slide5.xml" Id="R60739231b6194856" /><Relationship Type="http://schemas.openxmlformats.org/officeDocument/2006/relationships/slide" Target="/ppt/slides/slide6.xml" Id="Ra6f4b74ce268416d" /><Relationship Type="http://schemas.openxmlformats.org/officeDocument/2006/relationships/slide" Target="/ppt/slides/slide7.xml" Id="Re1a0dde9a39c494e" /><Relationship Type="http://schemas.openxmlformats.org/officeDocument/2006/relationships/slide" Target="/ppt/slides/slide8.xml" Id="R2a3db37ffb7e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d08d4758b442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1b92f98a1466e" /><Relationship Type="http://schemas.openxmlformats.org/officeDocument/2006/relationships/notesMaster" Target="/ppt/notesMasters/notesMaster1.xml" Id="R88381ff7d4b240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f0b11296e346c3" /><Relationship Type="http://schemas.openxmlformats.org/officeDocument/2006/relationships/notesMaster" Target="/ppt/notesMasters/notesMaster1.xml" Id="R3da10278a74a4c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c51c7383a4ecb" /><Relationship Type="http://schemas.openxmlformats.org/officeDocument/2006/relationships/notesMaster" Target="/ppt/notesMasters/notesMaster1.xml" Id="R4c96dcce3204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97be320914240" /><Relationship Type="http://schemas.openxmlformats.org/officeDocument/2006/relationships/notesMaster" Target="/ppt/notesMasters/notesMaster1.xml" Id="R734f2dcc912048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a5c8ecbbb496f" /><Relationship Type="http://schemas.openxmlformats.org/officeDocument/2006/relationships/notesMaster" Target="/ppt/notesMasters/notesMaster1.xml" Id="R98f81e62825148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55166536e04597" /><Relationship Type="http://schemas.openxmlformats.org/officeDocument/2006/relationships/notesMaster" Target="/ppt/notesMasters/notesMaster1.xml" Id="R58a92bef790541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d5db4d8322404d" /><Relationship Type="http://schemas.openxmlformats.org/officeDocument/2006/relationships/notesMaster" Target="/ppt/notesMasters/notesMaster1.xml" Id="R3fd93b68e89c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ff5d7656a34058" /><Relationship Type="http://schemas.openxmlformats.org/officeDocument/2006/relationships/notesMaster" Target="/ppt/notesMasters/notesMaster1.xml" Id="R6b29c0f7f1e644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ed100341c46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0937f911774b80" /><Relationship Type="http://schemas.openxmlformats.org/officeDocument/2006/relationships/slideLayout" Target="/ppt/slideLayouts/slideLayout2.xml" Id="Rc997840b7e794b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97840b7e794b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28306fabf4a78" /><Relationship Type="http://schemas.openxmlformats.org/officeDocument/2006/relationships/notesSlide" Target="/ppt/notesSlides/notesSlide1.xml" Id="Ra3c77058fb3d44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f14c55f23e4c83" /><Relationship Type="http://schemas.openxmlformats.org/officeDocument/2006/relationships/notesSlide" Target="/ppt/notesSlides/notesSlide2.xml" Id="Re38718708b75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226066d274c1b" /><Relationship Type="http://schemas.openxmlformats.org/officeDocument/2006/relationships/notesSlide" Target="/ppt/notesSlides/notesSlide3.xml" Id="Rfcd389e01a7f45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8ec19767e54a07" /><Relationship Type="http://schemas.openxmlformats.org/officeDocument/2006/relationships/notesSlide" Target="/ppt/notesSlides/notesSlide4.xml" Id="R3f6a67a2b14f45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44b1e048bb4a52" /><Relationship Type="http://schemas.openxmlformats.org/officeDocument/2006/relationships/notesSlide" Target="/ppt/notesSlides/notesSlide5.xml" Id="R6a8b69d21eeb4f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264cc9ad5b4e73" /><Relationship Type="http://schemas.openxmlformats.org/officeDocument/2006/relationships/notesSlide" Target="/ppt/notesSlides/notesSlide6.xml" Id="Rb3c456fd353b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363f98b5464e4a" /><Relationship Type="http://schemas.openxmlformats.org/officeDocument/2006/relationships/notesSlide" Target="/ppt/notesSlides/notesSlide7.xml" Id="R59c220a3b7fa46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0c2f600d9f4204" /><Relationship Type="http://schemas.openxmlformats.org/officeDocument/2006/relationships/notesSlide" Target="/ppt/notesSlides/notesSlide8.xml" Id="Rddd9b021cd984b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7B2AC-8561-48E8-B414-C0B3049E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D5E3DB31-E1EA-4735-8972-1E32CF8A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1F3FFE3B-8B07-4364-A0F2-7D61FFFC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F3C59-EF0E-49B2-A3E5-E010FFB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Instrktr puts the lab where developers already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F266E-329A-4379-A5ED-376B3299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38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A VS Code runtime for interactive coding courses: instructions, starter files, checks, hints, solution diffs, catalog install, and progress sync all live in the editor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5198F-4340-47D0-89F4-11360CA6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61B02-C3A4-4F77-860F-95418660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066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No browser tab switching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9E435-FC8C-4B72-A736-94EB716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38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31DC0-6C45-4163-B801-0FA24DC3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No VM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BDB8C-A9DE-4F43-A39F-1767295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60183-697E-4E69-A34D-F423F98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147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33ADF-9975-42B0-9E70-AE5C3E62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09600"/>
            <a:ext cx="34671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B6682-3DE7-4B97-8728-525E291A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71550"/>
            <a:ext cx="289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E5C0D-EFA2-4450-B3D0-05B4A8C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715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04126-A889-4A71-8B64-32753556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953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Course repo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21C73-6A82-401B-972D-C203E908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573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Plain GitHub repositories with course.json manifests.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4C3E8-9B2E-4490-BE33-F1D08E07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89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1C6ED-98A2-4908-ABBC-C0AB4AE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E2A11-B25B-46B9-ABEF-C51908D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Editor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FC3D9-2529-4079-A53B-22BFC2B6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Markdown instructions and navigation inside VS Code.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A212D-0331-4FD2-9E7D-EE07D89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89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E3CED9-3A94-4CA0-93CF-458FE720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0A127-0DDE-427C-B251-8E591DE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194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029F9-5FD8-4BA2-A3F9-C4943927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814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JavaScript or Bash validators inspect the learner workspace.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C2326-5FCE-4A12-8806-E1B844DE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2895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BEB5C-F072-4F09-A837-FBADFEA5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5B49E-1F31-4D6B-BE82-76DD8354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815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Flexible 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3D0209-44F0-4D41-AA80-D82EF12B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434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Catalog, local dev mode, startup course, presentation mode, webhook events.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87DF6-F644-473C-945D-86BA9DD8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442B10-551F-4CDB-8EF6-C38CF2F1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README.md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DD0D2-2879-4CD4-8FC3-7C2C54C5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99755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3A81F-D19D-4920-8DE1-37762D5A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483ED7ED-D0E5-47D6-96DC-2DB6626E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4A090F0-C656-48C7-B871-28F0A636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LEARNER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59104-2199-43AC-B96E-ACE368B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learner path collapses setup into one editor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97185-E693-4AA8-9913-D8CB450F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09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Every step keeps the learner in the same place: read, edit, run, check, and continue.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23339-9886-43E5-8871-16567E23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485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D4302-849C-4845-9529-1457B114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26C0E-C197-4FBF-9FC8-BC6FE8B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9D3EF-ADF5-4D32-A5D2-B397F0BC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Start a bundled, installed, catalog, or local course.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8EFE1-03C0-4701-B8EA-45DF96E7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385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9D1F6-27F5-459E-BD93-40F6C6BC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1485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98CEB-E159-4388-A6D8-51151BEF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5368D-C6E0-4F2E-AAB8-9BB5F48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02765-1822-4040-91F7-FF0064B9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Markdown panel with code copy and file links.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78884-73FC-4CCE-A225-7A0A2075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385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EAAD8-0115-4995-9DA9-EE22A786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485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C9B6E-7DA7-41FC-8518-20EB2F26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23159-13B4-4830-805C-6E34487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Edit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93384-109F-4973-93DD-49EE0EE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Starter files appear in the learner workspace.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7EB1D-5743-46AD-83EA-A5484CE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385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C7898-5ABB-4C26-A4A6-C27DA063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1485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3A29E-BD6D-49A2-B1DE-640B9990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95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A2AB6-7ECC-45DF-80FD-DA4E9A5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271DA-3541-4AD5-926D-9D0FF62D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71A1F"/>
                </a:solidFill>
                <a:latin typeface="Aptos"/>
                <a:ea typeface="Aptos"/>
                <a:cs typeface="Aptos"/>
              </a:rPr>
              <a:t>Validators inspect files, terminal output, or commands.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03ABB-599D-4F7D-B720-92638D55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0220D-3FFB-4FDA-93E3-6E7707B8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485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4"/>
          </a:solidFill>
          <a:ln xmlns:a="http://schemas.openxmlformats.org/drawingml/2006/main" w="0">
            <a:solidFill>
              <a:srgbClr val="3D46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A75CE-3BC7-450B-A5CB-83A92A54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CF193-1A8E-4050-990E-46FEBBE6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69BF2E-783B-4DAC-BFBA-1C6AD6C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386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ECE7DD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ECE7DD"/>
                </a:solidFill>
                <a:latin typeface="Aptos"/>
                <a:ea typeface="Aptos"/>
                <a:cs typeface="Aptos"/>
              </a:rPr>
              <a:t>Hints and solution diffs appear only when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DFF38-7223-4EBD-AF44-D7A3E148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191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BE"/>
          </a:solidFill>
          <a:ln xmlns:a="http://schemas.openxmlformats.org/drawingml/2006/main" w="0">
            <a:solidFill>
              <a:srgbClr val="D8CF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FE2E3E-A42D-4D83-B5D5-6C023902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Result: course completion is driven by actual workspace evidence, not by disconnected quizzes or screenshots.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892063-DA4A-482C-85E8-E08636D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BEC041-D72F-4312-8AE4-8AF1EE7B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README.md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800997-7134-4320-B09A-A40C376E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16988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2B42B-A59A-4C43-B6DE-292432D6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F62D9A38-A8B7-4A45-81D9-CBC5530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564734D2-9EC2-457D-9EF2-640DE849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AUTHORING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209B9-F271-42AB-BC47-FCD8B4F2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Course authors ship plain repositories, not a proprietary LMS format.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90C74-5283-4594-AEB7-CE3D54D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A course is a repo with a manifest and step folders. That keeps review, versioning, release automation, and collaboration in the tools engineering teams already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15B83-35A8-4659-A37C-CEA3285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629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EE5F-47AC-4E96-804F-5F052102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C6A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6BC6A8"/>
                </a:solidFill>
                <a:latin typeface="Aptos Mono"/>
                <a:ea typeface="Aptos Mono"/>
                <a:cs typeface="Aptos Mono"/>
              </a:rPr>
              <a:t>course-my-topic/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07564-CA5C-44AB-9EFC-85F46BDF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├── course.json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ECE26-703A-4362-ADBD-A5A1DF8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└── steps/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BD529-296B-4A4C-9C98-7CEDDA44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rPr>
              <a:t>    ├── 01-first-step/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6EBE8-EB2A-4A4B-B66D-B7CB50D7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rPr>
              <a:t>    │   ├── instructions.md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F959B-997C-4C5B-8244-B0DF5AFF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rPr>
              <a:t>    │   ├── starter/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DEA0C-F607-4D90-B5A6-D96BC47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rPr>
              <a:t>    │   ├── solution/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1B06C-C705-416A-8B40-BC10A26B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rPr>
              <a:t>    │   ├── setup.js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89919-A6A6-425C-BDE8-82EE3E4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3CB"/>
                </a:solidFill>
                <a:latin typeface="Aptos Mono"/>
                <a:ea typeface="Aptos Mono"/>
                <a:cs typeface="Aptos Mono"/>
              </a:rPr>
              <a:t>    │   └── validate.js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D5347-2CC7-48B1-8050-B711E21D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E05F5-5E07-4FA9-8193-0C8405F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65B25-17DD-4929-8E1B-11AF2FB5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21769-8849-4C0A-B350-A7691C6F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90825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gives the course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CCBAD-5B8A-49C7-962B-8783E1C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20E03-7C0F-4DB0-8155-1629169B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course.json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8C721-A443-4FC9-A7E6-1294CB1A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242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6DD56-CD0A-4E8C-8042-70D8CC51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Identity, version, engine requirement, and ordered steps.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B7151-BE87-4FAF-9D42-A1E0E1A6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0D2A8-72E1-4A23-91FC-3A98D847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instructions.md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15737-C52A-42B0-941C-B45E254E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65EBC-0A87-454E-8601-2333804E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4807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Rendered lesson content, code copy blocks, open-file links.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BDA20-59B1-45C1-8D38-EF1C0A6C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3F28B-CD01-49B5-859C-F504B7AD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starter/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E8161-8E11-44C3-A827-636A01CD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8DCAB-3E81-4ABC-BD67-61871D9C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0527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Scaffold copied into the learner workspace on step entry.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B2C716-F71D-43F6-9B72-35ADF05A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958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D53273-F6C8-49F2-BFEF-29F44C7D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624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solution/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A17B7D-E720-48A5-A163-6084874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BB1F4D-1B8E-47FD-B01E-1A0BB9BA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Diff target shown when a check fails or warns.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83AA54-B5AE-446C-B231-F2E5CA02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530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050966-63CA-4246-8CB9-FBDF337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013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validate.js / .sh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56513D-6E52-4468-8B72-25F7E6B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54CA23-C144-4E67-BDE3-07493BAE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967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Evidence check that returns pass, warn, or fail.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454B7F-8C10-48E4-8FB7-35D66570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48F612-A479-48E1-8798-3164312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README.md and docs/course-authoring.md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23C11-D717-4DFC-8DA7-8C3FA78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65909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12FA9-6599-4C3D-BE75-288123E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91F7297-7E39-4AE2-BE4E-0057034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DDFBDF1-D7E9-4A5D-AF3D-AC3BE6FF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VALIDATION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92812-B5EC-48C5-9D4A-D0B87626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Validators make progress evidence-based without leaving the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67AEB-541B-4937-8928-EA9A2EED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Checks can inspect files, parse structured content, read terminal history, or run commands with explicit permission prompts.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D10A6-4593-46C0-8DB9-CDEF65D7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7679-BA72-4E0F-8139-6A8780DE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53F89-ED5A-44C0-B48F-07A4787C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Learner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D4597-005A-46D7-9E22-6D1855A5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Files, terminal output, commands, and generated starter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68C92-3D58-402E-869C-63163AA3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09850"/>
            <a:ext cx="2495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450F6-5EF8-44A1-AF12-D0A75F0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098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3033F-728A-4405-9EE0-00EC49FA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432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Validator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30C49-DD7D-4FEF-BB77-12B4EBE5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09900"/>
            <a:ext cx="220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context.files, context.terminal, pass / warn / fail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07B20-558D-4CFA-B093-9969499E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A3FFF-2F51-4062-866F-496C679B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51F11-B2B4-490A-82FE-93D713D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Permission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77AC7-C0A7-448A-8539-0254F0A4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67100"/>
            <a:ext cx="2038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Command prompts explain the exact command, working directory, and scope.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1539B-5384-460C-8278-D2FE2AEB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2495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4C9AA-8BD6-4645-A8BC-1EFA64B7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7253D-556A-4821-8AB9-CF5029FA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244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Course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E955D-0565-4D02-812E-54EAC50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91100"/>
            <a:ext cx="2209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Next-step readiness, hints, solution comparison, and progress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60561-B2B7-485E-8E7F-5AFD8A92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19500"/>
            <a:ext cx="752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4D850-BA0F-45C4-8CCE-8DB98F65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385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F413C-9C80-4E8F-90BF-F49DA8C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0B704-15BA-4A13-B610-26B31C9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57161-4284-4258-8074-51A50367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12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AB00E-D6D1-421C-B756-D1AC41FD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C6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C6A8"/>
                </a:solidFill>
                <a:latin typeface="Aptos"/>
                <a:ea typeface="Aptos"/>
                <a:cs typeface="Aptos"/>
              </a:rPr>
              <a:t>JavaScript validators for structured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8E4E4-679F-4795-9E8B-BDCE88B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Bash validators for shell-native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1D2458-BE93-420E-A1AB-15275E19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BB9D0-7C4A-4C62-95C7-E3C700FD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docs/validator-api.md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19A9D-0B2A-4453-AFCD-F2E82CD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98663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76A7B-F154-41D3-B2CF-742CE1C4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0C9E9227-F8FE-4EE9-AF6E-72C83AAA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38E68502-516C-46AE-A799-E04A2EF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E6659-56E9-47B9-97B5-8C204B2B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The value concentrates where training usually leaks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200C4-AB1C-42B3-8365-2696AA04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Instrktr reduces context switching for learners, gives authors a low-friction content model, and gives instructors live-friendly delivery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3E944-2356-4718-93C8-7C70A873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FF854-13F4-4CFE-A2CF-09B359F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BBA1D-3FE4-47D8-AD55-6938BEF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14D68-F4A8-4DE7-917B-B275623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38425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D9025-3C25-4B69-B552-6F166A1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542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36306-4684-4DEB-B440-16143C5D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38425"/>
            <a:ext cx="523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in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6B76A-884B-470C-A558-C434FB7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388A6-C917-461A-BCCB-2929808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Learners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1E0C2-20D8-4CF3-B7C1-41D6992B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099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6D7E8-F739-4DD2-85F9-AA13E731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7657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Less setup and less switching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48329-AEF0-4E0B-B8F2-9BEF800B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E1974-4A28-4DAC-9682-BBA73AA4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76575"/>
            <a:ext cx="523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Courses run inside VS Code; starter files, file links, code copy, checks, and hints stay in one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7EC6C-6428-481D-A238-78D1EAE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F4BF0-AB97-49C2-B5C2-C9C9818B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Course authors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ADF08-E4C2-48C9-8EA2-D20A819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B2E05-D288-4375-8F58-320ECAB3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4332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Git-native authoring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58F8D-D8A7-4536-A91B-F6E704D1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766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F7284-A3B7-4887-B1FA-D6D0255E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43325"/>
            <a:ext cx="523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A course is a normal repository with course.json, Markdown, starter folders, solutions, setup, and validators.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493EB-2A5F-4E96-B27F-32C94893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C27D2-EF64-4F66-A0F5-45082367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Instructors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11D4CA-A792-4FC4-9DCB-DD184AB3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434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916D1-63C1-49F0-A1A8-18558521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007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Smoother live 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3B5A5-B792-473E-9400-8EE7D4E7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434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270BC-2B13-48CA-8C6F-3593EBA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0075"/>
            <a:ext cx="523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Presentation mode hides spoilers and turns checks into navigation for demos.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29397-6E5D-463A-84F1-AD7C791F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F29C7-C718-46EE-81A9-CDB12393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Training teams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57CC6-85D5-4E2B-86D8-2E234F5A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7426DE-05F0-48DC-935C-748B6C3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76825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Operational 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5D4BF-380F-4952-9E57-67D9AC4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101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A0BF91-6809-4E1A-B49F-E7972E24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76825"/>
            <a:ext cx="523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Catalog registry, startup course, local dev mode, progress sync, and webhook events support several rollout models.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490CC-F59B-4F19-8E14-C9B48EE2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5BCEA9-5416-4DE3-A21B-A402C82F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README.md and docs/configuration.md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92DCFB-3CD2-48C6-B6B6-AB3767C4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41094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A9EF2-0247-497C-9792-AA9C4302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FBF8F0"/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5F8CBF4A-5D23-4D0A-92F5-8375224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D01C37E-D986-4CE3-A746-C670886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USES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9E66A-54EA-43A7-9E29-99E461D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One runtime covers workshops, catalogs, authoring, and dashboards.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18E6A-3C5F-44ED-BE2E-E6C0BF46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The same course package can be delivered through several operating models without changing the learner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00C50-0722-465A-A643-C753DBD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7615F-BD06-4980-84FD-F55EC0CD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3ADFC-7438-4730-92F9-E45ED7A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Self-paced course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48343-3960-4988-9D76-21D34A7E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Learners browse, install, update, and remove GitHub-hosted courses from the panel.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AC513-831D-418A-BFFE-BDC98F97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B2AE2-5D26-4D25-A5CC-6472F6A4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9EB15-61AA-4FCC-8EE9-2131E21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Zero-touch workshop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F21D8-BADA-4941-B9A4-3CEA53E2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Workspace settings can define registryUrl and startupCourse so the right lab opens on first launch.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D9F89-7C12-4424-8596-82CA94BE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CB7FB-9A81-4471-B3EC-15F1A22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8BC78-D25C-4303-8F42-7D018C06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14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Authoring workbench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69008-3A91-48CB-A767-36CAE92A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localCoursePath opens a local course in dev watch mode; changes reload the panel automatically.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AC42B-02DA-4A4D-8D37-70143AB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863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01716-9FF6-4529-98FE-87F580E4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86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062"/>
          </a:solidFill>
          <a:ln xmlns:a="http://schemas.openxmlformats.org/drawingml/2006/main" w="0">
            <a:solidFill>
              <a:srgbClr val="D560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DC8BD-C45B-44B8-9C00-594E6B8E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19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Instructor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D308F-479C-487D-8867-1B26833B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863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Webhook events can post progress, failed checks, and solution views to a dashboard.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6C17F-8CA3-432A-A8E7-DBDE508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6F95D-5DAB-45F4-818D-8776515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C156C-2C85-40BC-9812-693F6213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005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4A2"/>
          </a:solidFill>
          <a:ln xmlns:a="http://schemas.openxmlformats.org/drawingml/2006/main" w="0">
            <a:solidFill>
              <a:srgbClr val="BEB4A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77508-6170-42A9-A998-01798D5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Single course package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A0C41-D74A-45FE-96F6-BCB995B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A3206E-55FC-44CE-B71E-BA1BC90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README.md and docs/configuration.md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2EA58-2458-4080-8CCC-839DA10E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24416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B7483-AD69-4A34-9026-B8BB48D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solidFill>
              <a:srgbClr val="F5F0E6"/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277FEF8-95B9-4431-B020-A94C571B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33673B5B-E6AE-4D81-A357-53001697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C7F9B-76A2-4D7C-BE48-96AE72CF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66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Configuration options tune launch, safety, sync, and presentation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E2FFB-3843-4A45-90E1-4248425B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Settings live under the instrktr namespace and can be scoped to user, workspace, or workspace folder.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335FF-0C94-497C-B13A-638C3C7A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1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DE4A5-CD28-42D9-B1FF-11525C09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4E2E7-DD31-428D-BC11-72C9F0E2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B4C7D-56D6-43A3-A86E-4629277B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47925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when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8891D-C174-46CA-B966-7DB322D3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905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5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DE503-8CA9-47FB-8685-E7134B1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0E94B-024A-4ED2-BD07-7BEAE86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E5010-116C-425C-88B6-F4FD1E6C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instrktr.registryUrl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3BDE7-DF24-448A-9F4F-8A80B6B6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539D4-3390-45B3-8801-442A9D21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289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need a course catalog.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9273E-C3E9-4CC9-99C9-8D9381EE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78DF6-20DE-43D4-A9E3-92172063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28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Loads registry.json for Browse Courses.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C6801-75EF-40A1-B149-E71AD981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FCCD5-4471-4AF6-93AB-E87FDF34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instrktr.startupCourse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017D2-F24B-473A-AD0B-83F487EB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0CB88-1B3F-4600-B6B7-99F49997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want a default lab.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2B795-3C51-4F5E-9EFE-BBA0F1DC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05EAA-0C3D-4B5A-AF51-C1F28B3A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Installs and starts a course by ID on VS Code open.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42428-94CF-4550-9F97-4F2CB55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EA1B6-9D9E-4D1B-87D2-22C41A25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instrktr.localCoursePath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490B0-F3BB-4A78-9C7C-A76642E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766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99690-ADD6-468C-B71D-32CDFA53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433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are authoring locally.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82560-54B7-4E7D-9448-778B24F7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754C4-F14F-4433-B3F3-5FBDB9D9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433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Opens a local folder in dev watch mode; takes precedence.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A9E90-D83E-455E-8DA9-D40555CD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73BD7-6CAA-4502-914F-5C553EB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instrktr.presentationMode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9DF8E5-64EF-4480-8E24-57B488AE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338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987203-708F-408C-8F7B-ECA3D1A8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005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are teaching live.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9EC52-6226-411A-BE98-4AD71ED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338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6987D1-1125-4C46-94C3-D63239BC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005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Hides sync, hints, solution diffs, and validator interruptions.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D935F9-2BCC-448E-A19C-11AB30A5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EB4584-2EC7-4204-850C-E2E7208D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instrktr.debugValidatorCommands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8382A5-BC60-4A72-8E97-ECD11777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5081EC-1EB7-4B1E-98B3-B9B91A0D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577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need validator diagnostics.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1DB90A-5A32-4767-8B55-BFD2E809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910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B46010-A970-4CF7-B62D-6808C58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577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Logs command execution metadata to the Instrktr output channel.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722BFB-EA68-452E-A50C-C6987F34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EB0E43-927B-4EF9-A6BB-F032DA0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instrktr.disableValidatorCommandSecurityChecks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892278-6003-4722-99DA-A5CE3DEA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482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F93F57-919F-442A-9D31-8C9D35FC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49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fully trust the course.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7AD8BB-7EF5-454A-9F3F-62710242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9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D7667B-2B74-4078-B504-7F0BE10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14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Runs validator commands without prompts.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7E3BF5-D1CC-4BE5-B041-3DAD55A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219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435ED9-A2ED-44E0-B43B-D894414C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3028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instrktr.webhookUrl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909B3-B824-4A48-A388-9E4264E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054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258E1E-38E5-44DB-B95D-C81BE07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You need instructor telemetry.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8919AB-1E0F-48FE-9D57-92B55006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7620">
            <a:solidFill>
              <a:srgbClr val="D9D0B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19ABDA-FB60-422A-A653-4194C51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721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D465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3D4654"/>
                </a:solidFill>
                <a:latin typeface="Aptos"/>
                <a:ea typeface="Aptos"/>
                <a:cs typeface="Aptos"/>
              </a:rPr>
              <a:t>Posts learner progress events to a dashboard or receiver.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8D931C-EF31-4708-99A1-CC562ACB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28559A-86BF-4F37-9589-879DED5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docs/configuration.md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245FF6-9350-48CD-AB9D-5A00C340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90795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0AACF-1F89-4A1E-AAD7-F26A5CD3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DC83C999-527A-4DEF-A943-8E225868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CD8D593A-29F0-4104-8074-7EE7FE15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6258"/>
                </a:solidFill>
                <a:latin typeface="Aptos"/>
                <a:ea typeface="Aptos"/>
                <a:cs typeface="Aptos"/>
              </a:rPr>
              <a:t>FIT AND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07E44-330B-4F59-8864-793D631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Instrktr is strongest when courses need real editor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F832A-C26C-4A35-968F-06442275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Use it when the learning outcome depends on files, commands, terminal output, setup scaffolds, and workspace feedback rather than passive content.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42638-2967-4796-A8DF-6C647FE6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781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0">
            <a:solidFill>
              <a:srgbClr val="252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51CFC-06A8-4D11-A1E6-10700C6C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AEFA2-2448-43CB-B009-7A988A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Best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E3BFB-B0FF-4742-B8A3-1CB2AD71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Developer onboarding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CLI and Git workflows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Framework labs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Mainframe or DevOps exercises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6369-ED58-4A85-B984-7DDDDF0E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781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0">
            <a:solidFill>
              <a:srgbClr val="252A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90226-6D8E-47F8-888C-09ACA217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F4B8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E48BD-85FA-43A6-82AD-BAB502E2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Course 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3C8C4-E2E1-4B9D-A898-F6964901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Catalog install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Startup course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Local dev watch mode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Bundled course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70E6F-82F3-4B1E-B7FC-83CC859E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781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0">
            <a:solidFill>
              <a:srgbClr val="252A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33D66-E179-4EDF-96AA-23BD698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781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A8"/>
          </a:solidFill>
          <a:ln xmlns:a="http://schemas.openxmlformats.org/drawingml/2006/main" w="0">
            <a:solidFill>
              <a:srgbClr val="4D7E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6C628-47CA-4FFA-A5D1-F1CE4EFA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62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Feedback options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1EB8E-B3EC-4644-B881-409D8036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JS validators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Bash validators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Hints</a:t>
            </a:r>
          </a:p>
          <a:p xmlns:a="http://schemas.openxmlformats.org/drawingml/2006/main">
            <a:pPr algn="l">
              <a:defRPr sz="1125" b="0">
                <a:solidFill>
                  <a:srgbClr val="D8D3C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3CB"/>
                </a:solidFill>
                <a:latin typeface="Aptos"/>
                <a:ea typeface="Aptos"/>
                <a:cs typeface="Aptos"/>
              </a:rPr>
              <a:t>Solution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5F55C-7A95-4FF7-8A27-9609E6BC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62550"/>
            <a:ext cx="887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6A8"/>
          </a:solidFill>
          <a:ln xmlns:a="http://schemas.openxmlformats.org/drawingml/2006/main" w="0">
            <a:solidFill>
              <a:srgbClr val="6BC6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BC0F5-789E-4221-8089-0622CCC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38750"/>
            <a:ext cx="861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Core decision: keep training inside the editor when feedback must be grounded in actual workspace state.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F5D46-66A9-449E-BB5F-15C12FE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A"/>
          </a:solidFill>
          <a:ln xmlns:a="http://schemas.openxmlformats.org/drawingml/2006/main" w="0">
            <a:solidFill>
              <a:srgbClr val="D6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BA270-60F0-4EFA-BC15-CF5519DB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Source: synthesized from repository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E980D-5FC1-445F-BBAF-568E80A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625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25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6012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2026-05-03T12:33:15.6850000Z</dcterms:created>
  <dcterms:modified xsi:type="dcterms:W3CDTF">2026-05-03T12:33:15.6860000Z</dcterms:modified>
</coreProperties>
</file>